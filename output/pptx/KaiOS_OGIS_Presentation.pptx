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852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64633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5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14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2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9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6.png"/><Relationship Id="rId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02920" y="288036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A8A8A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An agentic Android launcher that replaces the app grid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8A8A8A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with a single line of intent.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02920" y="39776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6B00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FIT × OGIS Hackathon  ·  Competition Presentation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02920" y="43434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A8A8A"/>
                </a:solidFill>
                <a:latin typeface="Google Sans" pitchFamily="34" charset="0"/>
                <a:ea typeface="Google Sans" pitchFamily="34" charset="-122"/>
              </a:rPr>
              <a:t>Team KAIROS</a:t>
            </a:r>
            <a:endParaRPr lang="en-US" sz="1200" dirty="0"/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7502BD4C-13F9-E912-D1F1-5AFDFE9EFAA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88000" y="731227"/>
            <a:ext cx="2064534" cy="1840523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C0A65966-1528-8725-5342-73369AA6CC1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4813"/>
          <a:stretch>
            <a:fillRect/>
          </a:stretch>
        </p:blipFill>
        <p:spPr>
          <a:xfrm>
            <a:off x="6146130" y="436099"/>
            <a:ext cx="2109539" cy="4382085"/>
          </a:xfrm>
          <a:prstGeom prst="round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FF6B00"/>
                </a:solidFill>
                <a:latin typeface="Doto" pitchFamily="34" charset="0"/>
                <a:ea typeface="Doto" pitchFamily="34" charset="-122"/>
                <a:cs typeface="Doto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F5F5F5"/>
                </a:solidFill>
                <a:latin typeface="Doto" pitchFamily="34" charset="0"/>
                <a:ea typeface="Doto" pitchFamily="34" charset="-122"/>
                <a:cs typeface="Doto" pitchFamily="34" charset="-120"/>
              </a:rPr>
              <a:t>Phones were engineered</a:t>
            </a:r>
            <a:endParaRPr lang="en-US" sz="3200" dirty="0"/>
          </a:p>
          <a:p>
            <a:pPr marL="0" indent="0">
              <a:buNone/>
            </a:pPr>
            <a:r>
              <a:rPr lang="en-US" sz="3200" b="1" dirty="0">
                <a:solidFill>
                  <a:srgbClr val="F5F5F5"/>
                </a:solidFill>
                <a:latin typeface="Doto" pitchFamily="34" charset="0"/>
                <a:ea typeface="Doto" pitchFamily="34" charset="-122"/>
                <a:cs typeface="Doto" pitchFamily="34" charset="-120"/>
              </a:rPr>
              <a:t>for engagement — not agency.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2148840"/>
            <a:ext cx="4023360" cy="1097280"/>
          </a:xfrm>
          <a:prstGeom prst="roundRect">
            <a:avLst>
              <a:gd name="adj" fmla="val 8333"/>
            </a:avLst>
          </a:prstGeom>
          <a:solidFill>
            <a:srgbClr val="11111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2468880"/>
            <a:ext cx="384048" cy="384048"/>
          </a:xfrm>
          <a:prstGeom prst="ellipse">
            <a:avLst/>
          </a:prstGeom>
          <a:solidFill>
            <a:srgbClr val="331A00"/>
          </a:solidFill>
          <a:ln w="12700">
            <a:solidFill>
              <a:srgbClr val="FF6B00"/>
            </a:solidFill>
            <a:prstDash val="solid"/>
          </a:ln>
        </p:spPr>
      </p:sp>
      <p:pic>
        <p:nvPicPr>
          <p:cNvPr id="7" name="Image 0" descr="C:\Dev\kairos-os\output\pptx\assets\icons\ale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859" y="2553371"/>
            <a:ext cx="215067" cy="21506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34440" y="23774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5F5F5"/>
                </a:solidFill>
                <a:latin typeface="Doto" pitchFamily="34" charset="0"/>
                <a:ea typeface="Doto" pitchFamily="34" charset="-122"/>
                <a:cs typeface="Doto" pitchFamily="34" charset="-120"/>
              </a:rPr>
              <a:t>Visual bombardment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234440" y="26974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8A8A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Colorful grids, badge counts, and infinite scrolls trigger dopamine loops.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754880" y="2148840"/>
            <a:ext cx="4023360" cy="1097280"/>
          </a:xfrm>
          <a:prstGeom prst="roundRect">
            <a:avLst>
              <a:gd name="adj" fmla="val 8333"/>
            </a:avLst>
          </a:prstGeom>
          <a:solidFill>
            <a:srgbClr val="11111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956048" y="2468880"/>
            <a:ext cx="384048" cy="384048"/>
          </a:xfrm>
          <a:prstGeom prst="ellipse">
            <a:avLst/>
          </a:prstGeom>
          <a:solidFill>
            <a:srgbClr val="331A00"/>
          </a:solidFill>
          <a:ln w="12700">
            <a:solidFill>
              <a:srgbClr val="FF6B00"/>
            </a:solidFill>
            <a:prstDash val="solid"/>
          </a:ln>
        </p:spPr>
      </p:sp>
      <p:pic>
        <p:nvPicPr>
          <p:cNvPr id="12" name="Image 1" descr="C:\Dev\kairos-os\output\pptx\assets\icons\bel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0539" y="2553371"/>
            <a:ext cx="215067" cy="21506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532120" y="23774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5F5F5"/>
                </a:solidFill>
                <a:latin typeface="Doto" pitchFamily="34" charset="0"/>
                <a:ea typeface="Doto" pitchFamily="34" charset="-122"/>
                <a:cs typeface="Doto" pitchFamily="34" charset="-120"/>
              </a:rPr>
              <a:t>Notification overload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5532120" y="26974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8A8A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Push alerts shatter focus by constantly pulling you out of the moment.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457200" y="3383280"/>
            <a:ext cx="4023360" cy="1097280"/>
          </a:xfrm>
          <a:prstGeom prst="roundRect">
            <a:avLst>
              <a:gd name="adj" fmla="val 8333"/>
            </a:avLst>
          </a:prstGeom>
          <a:solidFill>
            <a:srgbClr val="11111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58368" y="3703320"/>
            <a:ext cx="384048" cy="384048"/>
          </a:xfrm>
          <a:prstGeom prst="ellipse">
            <a:avLst/>
          </a:prstGeom>
          <a:solidFill>
            <a:srgbClr val="331A00"/>
          </a:solidFill>
          <a:ln w="12700">
            <a:solidFill>
              <a:srgbClr val="FF6B00"/>
            </a:solidFill>
            <a:prstDash val="solid"/>
          </a:ln>
        </p:spPr>
      </p:sp>
      <p:pic>
        <p:nvPicPr>
          <p:cNvPr id="17" name="Image 2" descr="C:\Dev\kairos-os\output\pptx\assets\icons\bol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859" y="3787811"/>
            <a:ext cx="215067" cy="215067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234440" y="36118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5F5F5"/>
                </a:solidFill>
                <a:latin typeface="Doto" pitchFamily="34" charset="0"/>
                <a:ea typeface="Doto" pitchFamily="34" charset="-122"/>
                <a:cs typeface="Doto" pitchFamily="34" charset="-120"/>
              </a:rPr>
              <a:t>Zero-friction access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1234440" y="39319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8A8A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One tap opens any trap. Doomscrolling needs no conscious decision.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4754880" y="3383280"/>
            <a:ext cx="4023360" cy="1097280"/>
          </a:xfrm>
          <a:prstGeom prst="roundRect">
            <a:avLst>
              <a:gd name="adj" fmla="val 8333"/>
            </a:avLst>
          </a:prstGeom>
          <a:solidFill>
            <a:srgbClr val="11111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4956048" y="3703320"/>
            <a:ext cx="384048" cy="384048"/>
          </a:xfrm>
          <a:prstGeom prst="ellipse">
            <a:avLst/>
          </a:prstGeom>
          <a:solidFill>
            <a:srgbClr val="331A00"/>
          </a:solidFill>
          <a:ln w="12700">
            <a:solidFill>
              <a:srgbClr val="FF6B00"/>
            </a:solidFill>
            <a:prstDash val="solid"/>
          </a:ln>
        </p:spPr>
      </p:sp>
      <p:pic>
        <p:nvPicPr>
          <p:cNvPr id="22" name="Image 3" descr="C:\Dev\kairos-os\output\pptx\assets\icons\ey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40539" y="3787811"/>
            <a:ext cx="215067" cy="215067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532120" y="36118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5F5F5"/>
                </a:solidFill>
                <a:latin typeface="Doto" pitchFamily="34" charset="0"/>
                <a:ea typeface="Doto" pitchFamily="34" charset="-122"/>
                <a:cs typeface="Doto" pitchFamily="34" charset="-120"/>
              </a:rPr>
              <a:t>Broad &amp; shallow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5532120" y="39319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8A8A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Quantity of interactions over quality — loneliness dressed as connection.</a:t>
            </a:r>
            <a:endParaRPr lang="en-US" sz="1200" dirty="0"/>
          </a:p>
        </p:txBody>
      </p:sp>
      <p:pic>
        <p:nvPicPr>
          <p:cNvPr id="25" name="Image 4" descr="C:\Dev\kairos-os\output\pptx\assets\logomark-for-dar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4773168"/>
            <a:ext cx="201168" cy="201168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731520" y="47548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 err="1">
                <a:solidFill>
                  <a:srgbClr val="8A8A8A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KaiOS</a:t>
            </a:r>
            <a:endParaRPr lang="en-US" sz="1000" dirty="0"/>
          </a:p>
        </p:txBody>
      </p:sp>
      <p:sp>
        <p:nvSpPr>
          <p:cNvPr id="27" name="Text 20"/>
          <p:cNvSpPr/>
          <p:nvPr/>
        </p:nvSpPr>
        <p:spPr>
          <a:xfrm>
            <a:off x="8229600" y="475488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A8A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FF6B00"/>
                </a:solidFill>
                <a:latin typeface="Doto" pitchFamily="34" charset="0"/>
                <a:ea typeface="Doto" pitchFamily="34" charset="-122"/>
                <a:cs typeface="Doto" pitchFamily="34" charset="-120"/>
              </a:rPr>
              <a:t>THE NARRATIVE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F5F5F5"/>
                </a:solidFill>
                <a:latin typeface="Doto" pitchFamily="34" charset="0"/>
                <a:ea typeface="Doto" pitchFamily="34" charset="-122"/>
                <a:cs typeface="Doto" pitchFamily="34" charset="-120"/>
              </a:rPr>
              <a:t>Two words for time.</a:t>
            </a:r>
            <a:endParaRPr lang="en-US" sz="3200" dirty="0"/>
          </a:p>
          <a:p>
            <a:pPr marL="0" indent="0">
              <a:buNone/>
            </a:pPr>
            <a:r>
              <a:rPr lang="en-US" sz="3200" b="1" dirty="0">
                <a:solidFill>
                  <a:srgbClr val="F5F5F5"/>
                </a:solidFill>
                <a:latin typeface="Doto" pitchFamily="34" charset="0"/>
                <a:ea typeface="Doto" pitchFamily="34" charset="-122"/>
                <a:cs typeface="Doto" pitchFamily="34" charset="-120"/>
              </a:rPr>
              <a:t>Only one restores choice.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2103120"/>
            <a:ext cx="3977640" cy="2194560"/>
          </a:xfrm>
          <a:prstGeom prst="roundRect">
            <a:avLst>
              <a:gd name="adj" fmla="val 4167"/>
            </a:avLst>
          </a:prstGeom>
          <a:solidFill>
            <a:srgbClr val="11111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22860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kern="0" spc="400" dirty="0">
                <a:solidFill>
                  <a:srgbClr val="8A8A8A"/>
                </a:solidFill>
                <a:latin typeface="Doto" pitchFamily="34" charset="0"/>
                <a:ea typeface="Doto" pitchFamily="34" charset="-122"/>
                <a:cs typeface="Doto" pitchFamily="34" charset="-120"/>
              </a:rPr>
              <a:t>CHRONOS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26517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A8A8A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khronos  ·  sequential time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3063240"/>
            <a:ext cx="3566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5F5F5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The endless ticking clock.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5F5F5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The infinite scroll.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5F5F5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Hours lost without intention.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5F5F5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Modern OS default mode.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709160" y="2103120"/>
            <a:ext cx="3977640" cy="2194560"/>
          </a:xfrm>
          <a:prstGeom prst="roundRect">
            <a:avLst>
              <a:gd name="adj" fmla="val 4167"/>
            </a:avLst>
          </a:prstGeom>
          <a:solidFill>
            <a:srgbClr val="111111"/>
          </a:solidFill>
          <a:ln w="19050">
            <a:solidFill>
              <a:srgbClr val="FF6B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0" y="22860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kern="0" spc="400" dirty="0">
                <a:solidFill>
                  <a:srgbClr val="FF6B00"/>
                </a:solidFill>
                <a:latin typeface="Doto" pitchFamily="34" charset="0"/>
                <a:ea typeface="Doto" pitchFamily="34" charset="-122"/>
                <a:cs typeface="Doto" pitchFamily="34" charset="-120"/>
              </a:rPr>
              <a:t>KAIROS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937760" y="26517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A8A8A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kairos  ·  the right moment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37760" y="3063240"/>
            <a:ext cx="3566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5F5F5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Qualitative time.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5F5F5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The opportune instant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5F5F5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for deliberate action.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5F5F5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Every tap must earn itself.</a:t>
            </a:r>
            <a:endParaRPr lang="en-US" sz="1400" dirty="0"/>
          </a:p>
        </p:txBody>
      </p:sp>
      <p:pic>
        <p:nvPicPr>
          <p:cNvPr id="13" name="Image 0" descr="C:\Dev\kairos-os\output\pptx\assets\logomark-for-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773168"/>
            <a:ext cx="201168" cy="201168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731520" y="47548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A8A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KaiOS  ·  FIT × OGIS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8229600" y="475488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A8A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0" y="731520"/>
            <a:ext cx="3840480" cy="3840480"/>
          </a:xfrm>
          <a:prstGeom prst="ellipse">
            <a:avLst/>
          </a:prstGeom>
          <a:solidFill>
            <a:srgbClr val="FF6B00">
              <a:alpha val="8000"/>
            </a:srgbClr>
          </a:solidFill>
          <a:ln w="12700">
            <a:solidFill>
              <a:srgbClr val="FF6B0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FF6B00"/>
                </a:solidFill>
                <a:latin typeface="Doto" pitchFamily="34" charset="0"/>
                <a:ea typeface="Doto" pitchFamily="34" charset="-122"/>
                <a:cs typeface="Doto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F5F5F5"/>
                </a:solidFill>
                <a:latin typeface="Doto" pitchFamily="34" charset="0"/>
                <a:ea typeface="Doto" pitchFamily="34" charset="-122"/>
                <a:cs typeface="Doto" pitchFamily="34" charset="-120"/>
              </a:rPr>
              <a:t>Intentional friction,</a:t>
            </a:r>
            <a:endParaRPr lang="en-US" sz="3200" dirty="0"/>
          </a:p>
          <a:p>
            <a:pPr marL="0" indent="0">
              <a:buNone/>
            </a:pPr>
            <a:r>
              <a:rPr lang="en-US" sz="3200" b="1" dirty="0">
                <a:solidFill>
                  <a:srgbClr val="F5F5F5"/>
                </a:solidFill>
                <a:latin typeface="Doto" pitchFamily="34" charset="0"/>
                <a:ea typeface="Doto" pitchFamily="34" charset="-122"/>
                <a:cs typeface="Doto" pitchFamily="34" charset="-120"/>
              </a:rPr>
              <a:t>by design.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201168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5F5F5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KaiOS replaces the traditional home screen with a blank canvas and a blinking cursor. To do anything, you must consciously articulate what you want.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3063240"/>
            <a:ext cx="4846320" cy="347472"/>
          </a:xfrm>
          <a:prstGeom prst="roundRect">
            <a:avLst>
              <a:gd name="adj" fmla="val 15789"/>
            </a:avLst>
          </a:prstGeom>
          <a:solidFill>
            <a:srgbClr val="11111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306324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F5F5"/>
                </a:solidFill>
                <a:latin typeface="Doto" pitchFamily="34" charset="0"/>
                <a:ea typeface="Doto" pitchFamily="34" charset="-122"/>
                <a:cs typeface="Doto" pitchFamily="34" charset="-120"/>
              </a:rPr>
              <a:t>&gt;  @alarm set an alarm for 6am tomorrow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474720"/>
            <a:ext cx="4846320" cy="347472"/>
          </a:xfrm>
          <a:prstGeom prst="roundRect">
            <a:avLst>
              <a:gd name="adj" fmla="val 15789"/>
            </a:avLst>
          </a:prstGeom>
          <a:solidFill>
            <a:srgbClr val="11111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347472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F5F5"/>
                </a:solidFill>
                <a:latin typeface="Doto" pitchFamily="34" charset="0"/>
                <a:ea typeface="Doto" pitchFamily="34" charset="-122"/>
                <a:cs typeface="Doto" pitchFamily="34" charset="-120"/>
              </a:rPr>
              <a:t>&gt;  @gmail display my most important emails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3886200"/>
            <a:ext cx="4846320" cy="347472"/>
          </a:xfrm>
          <a:prstGeom prst="roundRect">
            <a:avLst>
              <a:gd name="adj" fmla="val 15789"/>
            </a:avLst>
          </a:prstGeom>
          <a:solidFill>
            <a:srgbClr val="11111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388620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6B00"/>
                </a:solidFill>
                <a:latin typeface="Doto" pitchFamily="34" charset="0"/>
                <a:ea typeface="Doto" pitchFamily="34" charset="-122"/>
                <a:cs typeface="Doto" pitchFamily="34" charset="-120"/>
              </a:rPr>
              <a:t>&gt;  @instagram /open — reason + 5m limit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52744" y="603504"/>
            <a:ext cx="2542032" cy="4050792"/>
          </a:xfrm>
          <a:prstGeom prst="roundRect">
            <a:avLst>
              <a:gd name="adj" fmla="val 6475"/>
            </a:avLst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  <a:effectLst>
            <a:outerShdw blurRad="228600" dist="76200" dir="10800000" algn="bl" rotWithShape="0">
              <a:srgbClr val="000000">
                <a:alpha val="5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989320" y="640080"/>
            <a:ext cx="2468880" cy="3977640"/>
          </a:xfrm>
          <a:prstGeom prst="roundRect">
            <a:avLst>
              <a:gd name="adj" fmla="val 5926"/>
            </a:avLst>
          </a:prstGeom>
          <a:solidFill>
            <a:srgbClr val="000000"/>
          </a:solidFill>
          <a:ln w="12700">
            <a:solidFill>
              <a:srgbClr val="222222"/>
            </a:solidFill>
            <a:prstDash val="solid"/>
          </a:ln>
        </p:spPr>
      </p:sp>
      <p:pic>
        <p:nvPicPr>
          <p:cNvPr id="15" name="Image 0" descr="C:\Dev\kairos-os\screenshots\integrations\screenshot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685800"/>
            <a:ext cx="2377440" cy="3886200"/>
          </a:xfrm>
          <a:prstGeom prst="rect">
            <a:avLst/>
          </a:prstGeom>
        </p:spPr>
      </p:pic>
      <p:pic>
        <p:nvPicPr>
          <p:cNvPr id="16" name="Image 1" descr="C:\Dev\kairos-os\output\pptx\assets\logomark-for-d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773168"/>
            <a:ext cx="201168" cy="20116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731520" y="47548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A8A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KaiOS  ·  FIT × OGIS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8229600" y="475488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A8A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FF6B00"/>
                </a:solidFill>
                <a:latin typeface="Doto" pitchFamily="34" charset="0"/>
                <a:ea typeface="Doto" pitchFamily="34" charset="-122"/>
                <a:cs typeface="Doto" pitchFamily="34" charset="-120"/>
              </a:rPr>
              <a:t>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F5F5F5"/>
                </a:solidFill>
                <a:latin typeface="Doto" pitchFamily="34" charset="0"/>
                <a:ea typeface="Doto" pitchFamily="34" charset="-122"/>
                <a:cs typeface="Doto" pitchFamily="34" charset="-120"/>
              </a:rPr>
              <a:t>Choose intention,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5F5F5"/>
                </a:solidFill>
                <a:latin typeface="Doto" pitchFamily="34" charset="0"/>
                <a:ea typeface="Doto" pitchFamily="34" charset="-122"/>
                <a:cs typeface="Doto" pitchFamily="34" charset="-120"/>
              </a:rPr>
              <a:t>not impulse.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8A8A8A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True connection requires the space to think. KaiOS transforms the smartphone from a landscape of distraction into an instrument of narrow, deep, and uncompromised focus.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35204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6B00"/>
                </a:solidFill>
                <a:latin typeface="Doto" pitchFamily="34" charset="0"/>
                <a:ea typeface="Doto" pitchFamily="34" charset="-122"/>
                <a:cs typeface="Doto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38404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5F5F5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Blank slate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148840" y="35204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6B00"/>
                </a:solidFill>
                <a:latin typeface="Doto" pitchFamily="34" charset="0"/>
                <a:ea typeface="Doto" pitchFamily="34" charset="-122"/>
                <a:cs typeface="Doto" pitchFamily="34" charset="-120"/>
              </a:rPr>
              <a:t>02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148840" y="38404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5F5F5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Stated intent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840480" y="35204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6B00"/>
                </a:solidFill>
                <a:latin typeface="Doto" pitchFamily="34" charset="0"/>
                <a:ea typeface="Doto" pitchFamily="34" charset="-122"/>
                <a:cs typeface="Doto" pitchFamily="34" charset="-120"/>
              </a:rPr>
              <a:t>03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840480" y="38404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5F5F5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Deep focus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952744" y="603504"/>
            <a:ext cx="2542032" cy="4050792"/>
          </a:xfrm>
          <a:prstGeom prst="roundRect">
            <a:avLst>
              <a:gd name="adj" fmla="val 6475"/>
            </a:avLst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  <a:effectLst>
            <a:outerShdw blurRad="228600" dist="76200" dir="10800000" algn="bl" rotWithShape="0">
              <a:srgbClr val="000000">
                <a:alpha val="5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989320" y="640080"/>
            <a:ext cx="2468880" cy="3977640"/>
          </a:xfrm>
          <a:prstGeom prst="roundRect">
            <a:avLst>
              <a:gd name="adj" fmla="val 5926"/>
            </a:avLst>
          </a:prstGeom>
          <a:solidFill>
            <a:srgbClr val="000000"/>
          </a:solidFill>
          <a:ln w="12700">
            <a:solidFill>
              <a:srgbClr val="222222"/>
            </a:solidFill>
            <a:prstDash val="solid"/>
          </a:ln>
        </p:spPr>
      </p:sp>
      <p:pic>
        <p:nvPicPr>
          <p:cNvPr id="14" name="Image 0" descr="C:\Dev\kairos-os\screenshots\integrations\extra-friction-11113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685800"/>
            <a:ext cx="2377440" cy="3886200"/>
          </a:xfrm>
          <a:prstGeom prst="rect">
            <a:avLst/>
          </a:prstGeom>
        </p:spPr>
      </p:pic>
      <p:pic>
        <p:nvPicPr>
          <p:cNvPr id="15" name="Image 1" descr="C:\Dev\kairos-os\output\pptx\assets\logomark-for-d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773168"/>
            <a:ext cx="201168" cy="20116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31520" y="47548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A8A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KaiOS  ·  FIT × OGIS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8229600" y="475488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A8A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FF6B00"/>
                </a:solidFill>
                <a:latin typeface="Doto" pitchFamily="34" charset="0"/>
                <a:ea typeface="Doto" pitchFamily="34" charset="-122"/>
                <a:cs typeface="Doto" pitchFamily="34" charset="-120"/>
              </a:rPr>
              <a:t>CORE EXPERIENCE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F5F5F5"/>
                </a:solidFill>
                <a:latin typeface="Doto" pitchFamily="34" charset="0"/>
                <a:ea typeface="Doto" pitchFamily="34" charset="-122"/>
                <a:cs typeface="Doto" pitchFamily="34" charset="-120"/>
              </a:rPr>
              <a:t>One command line.</a:t>
            </a:r>
            <a:endParaRPr lang="en-US" sz="3200" dirty="0"/>
          </a:p>
          <a:p>
            <a:pPr marL="0" indent="0">
              <a:buNone/>
            </a:pPr>
            <a:r>
              <a:rPr lang="en-US" sz="3200" b="1" dirty="0">
                <a:solidFill>
                  <a:srgbClr val="F5F5F5"/>
                </a:solidFill>
                <a:latin typeface="Doto" pitchFamily="34" charset="0"/>
                <a:ea typeface="Doto" pitchFamily="34" charset="-122"/>
                <a:cs typeface="Doto" pitchFamily="34" charset="-120"/>
              </a:rPr>
              <a:t>Native widgets in return.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2148840"/>
            <a:ext cx="384048" cy="384048"/>
          </a:xfrm>
          <a:prstGeom prst="ellipse">
            <a:avLst/>
          </a:prstGeom>
          <a:solidFill>
            <a:srgbClr val="331A00"/>
          </a:solidFill>
          <a:ln w="12700">
            <a:solidFill>
              <a:srgbClr val="FF6B00"/>
            </a:solidFill>
            <a:prstDash val="solid"/>
          </a:ln>
        </p:spPr>
      </p:sp>
      <p:pic>
        <p:nvPicPr>
          <p:cNvPr id="6" name="Image 0" descr="C:\Dev\kairos-os\output\pptx\assets\icons\termi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691" y="2233331"/>
            <a:ext cx="215067" cy="21506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51560" y="205740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5F5F5"/>
                </a:solidFill>
                <a:latin typeface="Doto" pitchFamily="34" charset="0"/>
                <a:ea typeface="Doto" pitchFamily="34" charset="-122"/>
                <a:cs typeface="Doto" pitchFamily="34" charset="-120"/>
              </a:rPr>
              <a:t>@app routing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051560" y="23774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A8A8A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Direct natural-language commands to Gmail, Calendar, Slack, Notion, and more.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57200" y="3017520"/>
            <a:ext cx="384048" cy="384048"/>
          </a:xfrm>
          <a:prstGeom prst="ellipse">
            <a:avLst/>
          </a:prstGeom>
          <a:solidFill>
            <a:srgbClr val="331A00"/>
          </a:solidFill>
          <a:ln w="12700">
            <a:solidFill>
              <a:srgbClr val="FF6B00"/>
            </a:solidFill>
            <a:prstDash val="solid"/>
          </a:ln>
        </p:spPr>
      </p:sp>
      <p:pic>
        <p:nvPicPr>
          <p:cNvPr id="10" name="Image 1" descr="C:\Dev\kairos-os\output\pptx\assets\icons\laye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1691" y="3102011"/>
            <a:ext cx="215067" cy="21506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51560" y="292608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5F5F5"/>
                </a:solidFill>
                <a:latin typeface="Doto" pitchFamily="34" charset="0"/>
                <a:ea typeface="Doto" pitchFamily="34" charset="-122"/>
                <a:cs typeface="Doto" pitchFamily="34" charset="-120"/>
              </a:rPr>
              <a:t>Server-driven UI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1051560" y="32461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A8A8A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Responses render as structured Compose widgets — not chatbot walls of text.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457200" y="3886200"/>
            <a:ext cx="384048" cy="384048"/>
          </a:xfrm>
          <a:prstGeom prst="ellipse">
            <a:avLst/>
          </a:prstGeom>
          <a:solidFill>
            <a:srgbClr val="331A00"/>
          </a:solidFill>
          <a:ln w="12700">
            <a:solidFill>
              <a:srgbClr val="FF6B00"/>
            </a:solidFill>
            <a:prstDash val="solid"/>
          </a:ln>
        </p:spPr>
      </p:sp>
      <p:pic>
        <p:nvPicPr>
          <p:cNvPr id="14" name="Image 2" descr="C:\Dev\kairos-os\output\pptx\assets\icons\bol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1691" y="3970691"/>
            <a:ext cx="215067" cy="215067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051560" y="379476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5F5F5"/>
                </a:solidFill>
                <a:latin typeface="Doto" pitchFamily="34" charset="0"/>
                <a:ea typeface="Doto" pitchFamily="34" charset="-122"/>
                <a:cs typeface="Doto" pitchFamily="34" charset="-120"/>
              </a:rPr>
              <a:t>Read → Execute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1051560" y="41148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A8A8A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Read via widgets. Act via deep links into the real apps you already use.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5952744" y="466344"/>
            <a:ext cx="2542032" cy="4233672"/>
          </a:xfrm>
          <a:prstGeom prst="roundRect">
            <a:avLst>
              <a:gd name="adj" fmla="val 6475"/>
            </a:avLst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  <a:effectLst>
            <a:outerShdw blurRad="228600" dist="76200" dir="10800000" algn="bl" rotWithShape="0">
              <a:srgbClr val="000000">
                <a:alpha val="55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5989320" y="502920"/>
            <a:ext cx="2468880" cy="4160520"/>
          </a:xfrm>
          <a:prstGeom prst="roundRect">
            <a:avLst>
              <a:gd name="adj" fmla="val 5926"/>
            </a:avLst>
          </a:prstGeom>
          <a:solidFill>
            <a:srgbClr val="000000"/>
          </a:solidFill>
          <a:ln w="12700">
            <a:solidFill>
              <a:srgbClr val="222222"/>
            </a:solidFill>
            <a:prstDash val="solid"/>
          </a:ln>
        </p:spPr>
      </p:sp>
      <p:pic>
        <p:nvPicPr>
          <p:cNvPr id="19" name="Image 3" descr="C:\Dev\kairos-os\screenshots\integrations\01-gmai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5040" y="548640"/>
            <a:ext cx="2377440" cy="4069080"/>
          </a:xfrm>
          <a:prstGeom prst="rect">
            <a:avLst/>
          </a:prstGeom>
        </p:spPr>
      </p:pic>
      <p:pic>
        <p:nvPicPr>
          <p:cNvPr id="20" name="Image 4" descr="C:\Dev\kairos-os\output\pptx\assets\logomark-for-dar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4773168"/>
            <a:ext cx="201168" cy="201168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31520" y="47548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A8A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KaiOS  ·  FIT × OGIS</a:t>
            </a:r>
            <a:endParaRPr lang="en-US" sz="1000" dirty="0"/>
          </a:p>
        </p:txBody>
      </p:sp>
      <p:sp>
        <p:nvSpPr>
          <p:cNvPr id="22" name="Text 15"/>
          <p:cNvSpPr/>
          <p:nvPr/>
        </p:nvSpPr>
        <p:spPr>
          <a:xfrm>
            <a:off x="8229600" y="475488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A8A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FF6B00"/>
                </a:solidFill>
                <a:latin typeface="Doto" pitchFamily="34" charset="0"/>
                <a:ea typeface="Doto" pitchFamily="34" charset="-122"/>
                <a:cs typeface="Doto" pitchFamily="34" charset="-120"/>
              </a:rPr>
              <a:t>ANTI-DOOMSCROLL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F5F5F5"/>
                </a:solidFill>
                <a:latin typeface="Doto" pitchFamily="34" charset="0"/>
                <a:ea typeface="Doto" pitchFamily="34" charset="-122"/>
                <a:cs typeface="Doto" pitchFamily="34" charset="-120"/>
              </a:rPr>
              <a:t>Intent Gate.</a:t>
            </a:r>
            <a:endParaRPr lang="en-US" sz="3200" dirty="0"/>
          </a:p>
          <a:p>
            <a:pPr marL="0" indent="0">
              <a:buNone/>
            </a:pPr>
            <a:r>
              <a:rPr lang="en-US" sz="3200" b="1" dirty="0">
                <a:solidFill>
                  <a:srgbClr val="F5F5F5"/>
                </a:solidFill>
                <a:latin typeface="Doto" pitchFamily="34" charset="0"/>
                <a:ea typeface="Doto" pitchFamily="34" charset="-122"/>
                <a:cs typeface="Doto" pitchFamily="34" charset="-120"/>
              </a:rPr>
              <a:t>Trap apps earn their time.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A8A8A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Utility apps open instantly. Trap apps require a reason and a time limit — then KaiOS enforces the contract.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788920"/>
            <a:ext cx="4754880" cy="475488"/>
          </a:xfrm>
          <a:prstGeom prst="roundRect">
            <a:avLst>
              <a:gd name="adj" fmla="val 19231"/>
            </a:avLst>
          </a:prstGeom>
          <a:solidFill>
            <a:srgbClr val="11111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788920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6B00"/>
                </a:solidFill>
                <a:latin typeface="Doto" pitchFamily="34" charset="0"/>
                <a:ea typeface="Doto" pitchFamily="34" charset="-122"/>
                <a:cs typeface="Doto" pitchFamily="34" charset="-120"/>
              </a:rPr>
              <a:t>Utility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103120" y="2788920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F5F5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Clock, Camera, Maps — immediate access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3337560"/>
            <a:ext cx="4754880" cy="475488"/>
          </a:xfrm>
          <a:prstGeom prst="roundRect">
            <a:avLst>
              <a:gd name="adj" fmla="val 19231"/>
            </a:avLst>
          </a:prstGeom>
          <a:solidFill>
            <a:srgbClr val="11111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337560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6B00"/>
                </a:solidFill>
                <a:latin typeface="Doto" pitchFamily="34" charset="0"/>
                <a:ea typeface="Doto" pitchFamily="34" charset="-122"/>
                <a:cs typeface="Doto" pitchFamily="34" charset="-120"/>
              </a:rPr>
              <a:t>Trap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103120" y="3337560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F5F5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Instagram, TikTok, feeds — gated by reason + timer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886200"/>
            <a:ext cx="4754880" cy="475488"/>
          </a:xfrm>
          <a:prstGeom prst="roundRect">
            <a:avLst>
              <a:gd name="adj" fmla="val 19231"/>
            </a:avLst>
          </a:prstGeom>
          <a:solidFill>
            <a:srgbClr val="11111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886200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6B00"/>
                </a:solidFill>
                <a:latin typeface="Doto" pitchFamily="34" charset="0"/>
                <a:ea typeface="Doto" pitchFamily="34" charset="-122"/>
                <a:cs typeface="Doto" pitchFamily="34" charset="-120"/>
              </a:rPr>
              <a:t>Cooling-off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103120" y="3886200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F5F5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Guardrail changes wait 12 hours — no impulse undos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952744" y="466344"/>
            <a:ext cx="2542032" cy="4233672"/>
          </a:xfrm>
          <a:prstGeom prst="roundRect">
            <a:avLst>
              <a:gd name="adj" fmla="val 6475"/>
            </a:avLst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  <a:effectLst>
            <a:outerShdw blurRad="228600" dist="76200" dir="10800000" algn="bl" rotWithShape="0">
              <a:srgbClr val="000000">
                <a:alpha val="5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989320" y="502920"/>
            <a:ext cx="2468880" cy="4160520"/>
          </a:xfrm>
          <a:prstGeom prst="roundRect">
            <a:avLst>
              <a:gd name="adj" fmla="val 5926"/>
            </a:avLst>
          </a:prstGeom>
          <a:solidFill>
            <a:srgbClr val="000000"/>
          </a:solidFill>
          <a:ln w="12700">
            <a:solidFill>
              <a:srgbClr val="222222"/>
            </a:solidFill>
            <a:prstDash val="solid"/>
          </a:ln>
        </p:spPr>
      </p:sp>
      <p:pic>
        <p:nvPicPr>
          <p:cNvPr id="17" name="Image 0" descr="C:\Dev\kairos-os\screenshots\integrations\extra-instagram-access-11130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548640"/>
            <a:ext cx="2377440" cy="4069080"/>
          </a:xfrm>
          <a:prstGeom prst="rect">
            <a:avLst/>
          </a:prstGeom>
        </p:spPr>
      </p:pic>
      <p:pic>
        <p:nvPicPr>
          <p:cNvPr id="18" name="Image 1" descr="C:\Dev\kairos-os\output\pptx\assets\logomark-for-d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773168"/>
            <a:ext cx="201168" cy="201168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731520" y="47548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A8A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KaiOS  ·  FIT × OGIS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8229600" y="475488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A8A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FF6B00"/>
                </a:solidFill>
                <a:latin typeface="Doto" pitchFamily="34" charset="0"/>
                <a:ea typeface="Doto" pitchFamily="34" charset="-122"/>
                <a:cs typeface="Doto" pitchFamily="34" charset="-120"/>
              </a:rPr>
              <a:t>ATTENTION HYGIENE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F5F5F5"/>
                </a:solidFill>
                <a:latin typeface="Doto" pitchFamily="34" charset="0"/>
                <a:ea typeface="Doto" pitchFamily="34" charset="-122"/>
                <a:cs typeface="Doto" pitchFamily="34" charset="-120"/>
              </a:rPr>
              <a:t>Silence the noise.</a:t>
            </a:r>
            <a:endParaRPr lang="en-US" sz="3200" dirty="0"/>
          </a:p>
          <a:p>
            <a:pPr marL="0" indent="0">
              <a:buNone/>
            </a:pPr>
            <a:r>
              <a:rPr lang="en-US" sz="3200" b="1" dirty="0">
                <a:solidFill>
                  <a:srgbClr val="F5F5F5"/>
                </a:solidFill>
                <a:latin typeface="Doto" pitchFamily="34" charset="0"/>
                <a:ea typeface="Doto" pitchFamily="34" charset="-122"/>
                <a:cs typeface="Doto" pitchFamily="34" charset="-120"/>
              </a:rPr>
              <a:t>Surface what matters.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2103120"/>
            <a:ext cx="384048" cy="384048"/>
          </a:xfrm>
          <a:prstGeom prst="ellipse">
            <a:avLst/>
          </a:prstGeom>
          <a:solidFill>
            <a:srgbClr val="331A00"/>
          </a:solidFill>
          <a:ln w="12700">
            <a:solidFill>
              <a:srgbClr val="FF6B00"/>
            </a:solidFill>
            <a:prstDash val="solid"/>
          </a:ln>
        </p:spPr>
      </p:sp>
      <p:pic>
        <p:nvPicPr>
          <p:cNvPr id="6" name="Image 0" descr="C:\Dev\kairos-os\output\pptx\assets\icons\bol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691" y="2187611"/>
            <a:ext cx="215067" cy="21506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51560" y="20574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5F5F5"/>
                </a:solidFill>
                <a:latin typeface="Doto" pitchFamily="34" charset="0"/>
                <a:ea typeface="Doto" pitchFamily="34" charset="-122"/>
                <a:cs typeface="Doto" pitchFamily="34" charset="-120"/>
              </a:rPr>
              <a:t>Critical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051560" y="235000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A8A8A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Calls, calendar alerts, VIP contacts — instant passthrough.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57200" y="2926080"/>
            <a:ext cx="384048" cy="384048"/>
          </a:xfrm>
          <a:prstGeom prst="ellipse">
            <a:avLst/>
          </a:prstGeom>
          <a:solidFill>
            <a:srgbClr val="331A00"/>
          </a:solidFill>
          <a:ln w="12700">
            <a:solidFill>
              <a:srgbClr val="FF6B00"/>
            </a:solidFill>
            <a:prstDash val="solid"/>
          </a:ln>
        </p:spPr>
      </p:sp>
      <p:pic>
        <p:nvPicPr>
          <p:cNvPr id="10" name="Image 1" descr="C:\Dev\kairos-os\output\pptx\assets\icons\bel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1691" y="3010571"/>
            <a:ext cx="215067" cy="21506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51560" y="28803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5F5F5"/>
                </a:solidFill>
                <a:latin typeface="Doto" pitchFamily="34" charset="0"/>
                <a:ea typeface="Doto" pitchFamily="34" charset="-122"/>
                <a:cs typeface="Doto" pitchFamily="34" charset="-120"/>
              </a:rPr>
              <a:t>Digest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1051560" y="317296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A8A8A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Everything else is held, summarized by AI, and shown on request.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457200" y="3749040"/>
            <a:ext cx="384048" cy="384048"/>
          </a:xfrm>
          <a:prstGeom prst="ellipse">
            <a:avLst/>
          </a:prstGeom>
          <a:solidFill>
            <a:srgbClr val="331A00"/>
          </a:solidFill>
          <a:ln w="12700">
            <a:solidFill>
              <a:srgbClr val="FF6B00"/>
            </a:solidFill>
            <a:prstDash val="solid"/>
          </a:ln>
        </p:spPr>
      </p:sp>
      <p:pic>
        <p:nvPicPr>
          <p:cNvPr id="14" name="Image 2" descr="C:\Dev\kairos-os\output\pptx\assets\icons\brai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1691" y="3833531"/>
            <a:ext cx="215067" cy="215067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051560" y="37033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5F5F5"/>
                </a:solidFill>
                <a:latin typeface="Doto" pitchFamily="34" charset="0"/>
                <a:ea typeface="Doto" pitchFamily="34" charset="-122"/>
                <a:cs typeface="Doto" pitchFamily="34" charset="-120"/>
              </a:rPr>
              <a:t>Ask for it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1051560" y="399592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A8A8A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@digest daily digest — you choose when to engage.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5952744" y="466344"/>
            <a:ext cx="2542032" cy="4233672"/>
          </a:xfrm>
          <a:prstGeom prst="roundRect">
            <a:avLst>
              <a:gd name="adj" fmla="val 6475"/>
            </a:avLst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5989320" y="502920"/>
            <a:ext cx="2468880" cy="4160520"/>
          </a:xfrm>
          <a:prstGeom prst="roundRect">
            <a:avLst>
              <a:gd name="adj" fmla="val 5926"/>
            </a:avLst>
          </a:prstGeom>
          <a:solidFill>
            <a:srgbClr val="111111"/>
          </a:solidFill>
          <a:ln w="12700">
            <a:solidFill>
              <a:srgbClr val="FF6B00"/>
            </a:solidFill>
            <a:prstDash val="solid"/>
          </a:ln>
        </p:spPr>
      </p:sp>
      <p:pic>
        <p:nvPicPr>
          <p:cNvPr id="19" name="Image 3" descr="C:\Dev\kairos-os\output\pptx\assets\logomark-for-dar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0" y="1828800"/>
            <a:ext cx="731520" cy="73152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126480" y="26974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6B00"/>
                </a:solidFill>
                <a:latin typeface="Doto" pitchFamily="34" charset="0"/>
                <a:ea typeface="Doto" pitchFamily="34" charset="-122"/>
                <a:cs typeface="Doto" pitchFamily="34" charset="-120"/>
              </a:rPr>
              <a:t>DIGEST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FF6B00"/>
                </a:solidFill>
                <a:latin typeface="Doto" pitchFamily="34" charset="0"/>
                <a:ea typeface="Doto" pitchFamily="34" charset="-122"/>
                <a:cs typeface="Doto" pitchFamily="34" charset="-120"/>
              </a:rPr>
              <a:t>SCREENSHOT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6126480" y="33832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A8A8A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Drop your capture here</a:t>
            </a:r>
            <a:endParaRPr lang="en-US" sz="1100" dirty="0"/>
          </a:p>
        </p:txBody>
      </p:sp>
      <p:pic>
        <p:nvPicPr>
          <p:cNvPr id="22" name="Image 4" descr="C:\Dev\kairos-os\output\pptx\assets\logomark-for-dar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4773168"/>
            <a:ext cx="201168" cy="20116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731520" y="47548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A8A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KaiOS  ·  FIT × OGIS</a:t>
            </a:r>
            <a:endParaRPr lang="en-US" sz="1000" dirty="0"/>
          </a:p>
        </p:txBody>
      </p:sp>
      <p:sp>
        <p:nvSpPr>
          <p:cNvPr id="24" name="Text 17"/>
          <p:cNvSpPr/>
          <p:nvPr/>
        </p:nvSpPr>
        <p:spPr>
          <a:xfrm>
            <a:off x="8229600" y="475488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A8A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FF6B00"/>
                </a:solidFill>
                <a:latin typeface="Doto" pitchFamily="34" charset="0"/>
                <a:ea typeface="Doto" pitchFamily="34" charset="-122"/>
                <a:cs typeface="Doto" pitchFamily="34" charset="-120"/>
              </a:rPr>
              <a:t>USEFULNESS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F5F5F5"/>
                </a:solidFill>
                <a:latin typeface="Doto" pitchFamily="34" charset="0"/>
                <a:ea typeface="Doto" pitchFamily="34" charset="-122"/>
                <a:cs typeface="Doto" pitchFamily="34" charset="-120"/>
              </a:rPr>
              <a:t>Your tools. One intent line.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1325880" cy="2880360"/>
          </a:xfrm>
          <a:prstGeom prst="roundRect">
            <a:avLst>
              <a:gd name="adj" fmla="val 6897"/>
            </a:avLst>
          </a:prstGeom>
          <a:solidFill>
            <a:srgbClr val="111111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6" name="Image 0" descr="C:\Dev\kairos-os\screenshots\integrations\01-gmai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1490472"/>
            <a:ext cx="1179576" cy="24688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65760" y="3995928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5F5F5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Gmail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1783080" y="1417320"/>
            <a:ext cx="1325880" cy="2880360"/>
          </a:xfrm>
          <a:prstGeom prst="roundRect">
            <a:avLst>
              <a:gd name="adj" fmla="val 6897"/>
            </a:avLst>
          </a:prstGeom>
          <a:solidFill>
            <a:srgbClr val="111111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9" name="Image 1" descr="C:\Dev\kairos-os\screenshots\integrations\02-googlecalend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56232" y="1490472"/>
            <a:ext cx="1179576" cy="24688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783080" y="3995928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5F5F5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Calendar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3200400" y="1417320"/>
            <a:ext cx="1325880" cy="2880360"/>
          </a:xfrm>
          <a:prstGeom prst="roundRect">
            <a:avLst>
              <a:gd name="adj" fmla="val 6897"/>
            </a:avLst>
          </a:prstGeom>
          <a:solidFill>
            <a:srgbClr val="111111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2" name="Image 2" descr="C:\Dev\kairos-os\screenshots\integrations\03-sla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73552" y="1490472"/>
            <a:ext cx="1179576" cy="246888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200400" y="3995928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5F5F5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Slack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>
            <a:off x="4617720" y="1417320"/>
            <a:ext cx="1325880" cy="2880360"/>
          </a:xfrm>
          <a:prstGeom prst="roundRect">
            <a:avLst>
              <a:gd name="adj" fmla="val 6897"/>
            </a:avLst>
          </a:prstGeom>
          <a:solidFill>
            <a:srgbClr val="111111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5" name="Image 3" descr="C:\Dev\kairos-os\screenshots\integrations\05-noti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90872" y="1490472"/>
            <a:ext cx="1179576" cy="246888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4617720" y="3995928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5F5F5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Notion</a:t>
            </a:r>
            <a:endParaRPr lang="en-US" sz="1100" dirty="0"/>
          </a:p>
        </p:txBody>
      </p:sp>
      <p:sp>
        <p:nvSpPr>
          <p:cNvPr id="17" name="Shape 11"/>
          <p:cNvSpPr/>
          <p:nvPr/>
        </p:nvSpPr>
        <p:spPr>
          <a:xfrm>
            <a:off x="6035040" y="1417320"/>
            <a:ext cx="1325880" cy="2880360"/>
          </a:xfrm>
          <a:prstGeom prst="roundRect">
            <a:avLst>
              <a:gd name="adj" fmla="val 6897"/>
            </a:avLst>
          </a:prstGeom>
          <a:solidFill>
            <a:srgbClr val="111111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8" name="Image 4" descr="C:\Dev\kairos-os\screenshots\integrations\06-github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08192" y="1490472"/>
            <a:ext cx="1179576" cy="246888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6035040" y="3995928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5F5F5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GitHub</a:t>
            </a:r>
            <a:endParaRPr lang="en-US" sz="1100" dirty="0"/>
          </a:p>
        </p:txBody>
      </p:sp>
      <p:sp>
        <p:nvSpPr>
          <p:cNvPr id="20" name="Shape 13"/>
          <p:cNvSpPr/>
          <p:nvPr/>
        </p:nvSpPr>
        <p:spPr>
          <a:xfrm>
            <a:off x="7452360" y="1417320"/>
            <a:ext cx="1325880" cy="2880360"/>
          </a:xfrm>
          <a:prstGeom prst="roundRect">
            <a:avLst>
              <a:gd name="adj" fmla="val 6897"/>
            </a:avLst>
          </a:prstGeom>
          <a:solidFill>
            <a:srgbClr val="111111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21" name="Image 5" descr="C:\Dev\kairos-os\screenshots\integrations\extra-friction-111139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25512" y="1490472"/>
            <a:ext cx="1179576" cy="2468880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7452360" y="3995928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5F5F5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Intent Gate</a:t>
            </a:r>
            <a:endParaRPr lang="en-US" sz="1100" dirty="0"/>
          </a:p>
        </p:txBody>
      </p:sp>
      <p:pic>
        <p:nvPicPr>
          <p:cNvPr id="23" name="Image 6" descr="C:\Dev\kairos-os\output\pptx\assets\logomark-for-dark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7200" y="4773168"/>
            <a:ext cx="201168" cy="201168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731520" y="47548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A8A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KaiOS  ·  FIT × OGIS</a:t>
            </a:r>
            <a:endParaRPr lang="en-US" sz="1000" dirty="0"/>
          </a:p>
        </p:txBody>
      </p:sp>
      <p:sp>
        <p:nvSpPr>
          <p:cNvPr id="25" name="Text 16"/>
          <p:cNvSpPr/>
          <p:nvPr/>
        </p:nvSpPr>
        <p:spPr>
          <a:xfrm>
            <a:off x="8229600" y="475488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A8A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FF6B00"/>
                </a:solidFill>
                <a:latin typeface="Doto" pitchFamily="34" charset="0"/>
                <a:ea typeface="Doto" pitchFamily="34" charset="-122"/>
                <a:cs typeface="Doto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F5F5F5"/>
                </a:solidFill>
                <a:latin typeface="Doto" pitchFamily="34" charset="0"/>
                <a:ea typeface="Doto" pitchFamily="34" charset="-122"/>
                <a:cs typeface="Doto" pitchFamily="34" charset="-120"/>
              </a:rPr>
              <a:t>Thin client. Fat backend.</a:t>
            </a:r>
            <a:endParaRPr lang="en-US" sz="3200" dirty="0"/>
          </a:p>
          <a:p>
            <a:pPr marL="0" indent="0">
              <a:buNone/>
            </a:pPr>
            <a:r>
              <a:rPr lang="en-US" sz="3200" b="1" dirty="0">
                <a:solidFill>
                  <a:srgbClr val="F5F5F5"/>
                </a:solidFill>
                <a:latin typeface="Doto" pitchFamily="34" charset="0"/>
                <a:ea typeface="Doto" pitchFamily="34" charset="-122"/>
                <a:cs typeface="Doto" pitchFamily="34" charset="-120"/>
              </a:rPr>
              <a:t>Hybrid intelligence.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965960"/>
            <a:ext cx="2743200" cy="2468880"/>
          </a:xfrm>
          <a:prstGeom prst="roundRect">
            <a:avLst>
              <a:gd name="adj" fmla="val 3704"/>
            </a:avLst>
          </a:prstGeom>
          <a:solidFill>
            <a:srgbClr val="11111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2148840"/>
            <a:ext cx="384048" cy="384048"/>
          </a:xfrm>
          <a:prstGeom prst="ellipse">
            <a:avLst/>
          </a:prstGeom>
          <a:solidFill>
            <a:srgbClr val="331A00"/>
          </a:solidFill>
          <a:ln w="12700">
            <a:solidFill>
              <a:srgbClr val="FF6B00"/>
            </a:solidFill>
            <a:prstDash val="solid"/>
          </a:ln>
        </p:spPr>
      </p:sp>
      <p:pic>
        <p:nvPicPr>
          <p:cNvPr id="7" name="Image 0" descr="C:\Dev\kairos-os\output\pptx\assets\icons\pho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291" y="2233331"/>
            <a:ext cx="215067" cy="21506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34440" y="21945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5F5F5"/>
                </a:solidFill>
                <a:latin typeface="Doto" pitchFamily="34" charset="0"/>
                <a:ea typeface="Doto" pitchFamily="34" charset="-122"/>
                <a:cs typeface="Doto" pitchFamily="34" charset="-120"/>
              </a:rPr>
              <a:t>Android Client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85800" y="27432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8A8A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Kotlin + Jetpack Compose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85800" y="30358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8A8A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Command input &amp; widgets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85800" y="332841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8A8A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Notification listener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85800" y="362102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8A8A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Floating intent bubble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85800" y="39136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8A8A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On-device Gemma (AICore)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3337560" y="1965960"/>
            <a:ext cx="2743200" cy="2468880"/>
          </a:xfrm>
          <a:prstGeom prst="roundRect">
            <a:avLst>
              <a:gd name="adj" fmla="val 3704"/>
            </a:avLst>
          </a:prstGeom>
          <a:solidFill>
            <a:srgbClr val="11111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566160" y="2148840"/>
            <a:ext cx="384048" cy="384048"/>
          </a:xfrm>
          <a:prstGeom prst="ellipse">
            <a:avLst/>
          </a:prstGeom>
          <a:solidFill>
            <a:srgbClr val="331A00"/>
          </a:solidFill>
          <a:ln w="12700">
            <a:solidFill>
              <a:srgbClr val="FF6B00"/>
            </a:solidFill>
            <a:prstDash val="solid"/>
          </a:ln>
        </p:spPr>
      </p:sp>
      <p:pic>
        <p:nvPicPr>
          <p:cNvPr id="16" name="Image 1" descr="C:\Dev\kairos-os\output\pptx\assets\icons\serv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0651" y="2233331"/>
            <a:ext cx="215067" cy="215067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114800" y="21945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5F5F5"/>
                </a:solidFill>
                <a:latin typeface="Doto" pitchFamily="34" charset="0"/>
                <a:ea typeface="Doto" pitchFamily="34" charset="-122"/>
                <a:cs typeface="Doto" pitchFamily="34" charset="-120"/>
              </a:rPr>
              <a:t>Next.js Backend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3566160" y="27432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8A8A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Intent router &amp; orchestrator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3566160" y="30358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8A8A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Composio tool execution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3566160" y="332841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8A8A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Server-driven UI JSON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3566160" y="362102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8A8A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Session + context store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3566160" y="39136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8A8A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OAuth token vault</a:t>
            </a:r>
            <a:endParaRPr lang="en-US" sz="1200" dirty="0"/>
          </a:p>
        </p:txBody>
      </p:sp>
      <p:sp>
        <p:nvSpPr>
          <p:cNvPr id="23" name="Shape 19"/>
          <p:cNvSpPr/>
          <p:nvPr/>
        </p:nvSpPr>
        <p:spPr>
          <a:xfrm>
            <a:off x="6217920" y="1965960"/>
            <a:ext cx="2743200" cy="2468880"/>
          </a:xfrm>
          <a:prstGeom prst="roundRect">
            <a:avLst>
              <a:gd name="adj" fmla="val 3704"/>
            </a:avLst>
          </a:prstGeom>
          <a:solidFill>
            <a:srgbClr val="11111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6446520" y="2148840"/>
            <a:ext cx="384048" cy="384048"/>
          </a:xfrm>
          <a:prstGeom prst="ellipse">
            <a:avLst/>
          </a:prstGeom>
          <a:solidFill>
            <a:srgbClr val="331A00"/>
          </a:solidFill>
          <a:ln w="12700">
            <a:solidFill>
              <a:srgbClr val="FF6B00"/>
            </a:solidFill>
            <a:prstDash val="solid"/>
          </a:ln>
        </p:spPr>
      </p:sp>
      <p:pic>
        <p:nvPicPr>
          <p:cNvPr id="25" name="Image 2" descr="C:\Dev\kairos-os\output\pptx\assets\icons\clou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1011" y="2233331"/>
            <a:ext cx="215067" cy="215067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6995160" y="21945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5F5F5"/>
                </a:solidFill>
                <a:latin typeface="Doto" pitchFamily="34" charset="0"/>
                <a:ea typeface="Doto" pitchFamily="34" charset="-122"/>
                <a:cs typeface="Doto" pitchFamily="34" charset="-120"/>
              </a:rPr>
              <a:t>AI + Integrations</a:t>
            </a:r>
            <a:endParaRPr lang="en-US" sz="1400" dirty="0"/>
          </a:p>
        </p:txBody>
      </p:sp>
      <p:sp>
        <p:nvSpPr>
          <p:cNvPr id="27" name="Text 22"/>
          <p:cNvSpPr/>
          <p:nvPr/>
        </p:nvSpPr>
        <p:spPr>
          <a:xfrm>
            <a:off x="6446520" y="27432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8A8A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Gemini Flash / Pro tiers</a:t>
            </a:r>
            <a:endParaRPr lang="en-US" sz="1200" dirty="0"/>
          </a:p>
        </p:txBody>
      </p:sp>
      <p:sp>
        <p:nvSpPr>
          <p:cNvPr id="28" name="Text 23"/>
          <p:cNvSpPr/>
          <p:nvPr/>
        </p:nvSpPr>
        <p:spPr>
          <a:xfrm>
            <a:off x="6446520" y="30358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8A8A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Gmail · Calendar · Drive</a:t>
            </a:r>
            <a:endParaRPr lang="en-US" sz="1200" dirty="0"/>
          </a:p>
        </p:txBody>
      </p:sp>
      <p:sp>
        <p:nvSpPr>
          <p:cNvPr id="29" name="Text 24"/>
          <p:cNvSpPr/>
          <p:nvPr/>
        </p:nvSpPr>
        <p:spPr>
          <a:xfrm>
            <a:off x="6446520" y="332841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8A8A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Slack · Notion · GitHub</a:t>
            </a:r>
            <a:endParaRPr lang="en-US" sz="1200" dirty="0"/>
          </a:p>
        </p:txBody>
      </p:sp>
      <p:sp>
        <p:nvSpPr>
          <p:cNvPr id="30" name="Text 25"/>
          <p:cNvSpPr/>
          <p:nvPr/>
        </p:nvSpPr>
        <p:spPr>
          <a:xfrm>
            <a:off x="6446520" y="362102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8A8A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Spotify &amp; utilities</a:t>
            </a:r>
            <a:endParaRPr lang="en-US" sz="1200" dirty="0"/>
          </a:p>
        </p:txBody>
      </p:sp>
      <p:sp>
        <p:nvSpPr>
          <p:cNvPr id="31" name="Text 26"/>
          <p:cNvSpPr/>
          <p:nvPr/>
        </p:nvSpPr>
        <p:spPr>
          <a:xfrm>
            <a:off x="6446520" y="39136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8A8A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MCP / Composio toolkits</a:t>
            </a:r>
            <a:endParaRPr lang="en-US" sz="1200" dirty="0"/>
          </a:p>
        </p:txBody>
      </p:sp>
      <p:pic>
        <p:nvPicPr>
          <p:cNvPr id="32" name="Image 3" descr="C:\Dev\kairos-os\output\pptx\assets\logomark-for-dar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4773168"/>
            <a:ext cx="201168" cy="20116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731520" y="47548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A8A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KaiOS  ·  FIT × OGIS</a:t>
            </a:r>
            <a:endParaRPr lang="en-US" sz="1000" dirty="0"/>
          </a:p>
        </p:txBody>
      </p:sp>
      <p:sp>
        <p:nvSpPr>
          <p:cNvPr id="34" name="Text 28"/>
          <p:cNvSpPr/>
          <p:nvPr/>
        </p:nvSpPr>
        <p:spPr>
          <a:xfrm>
            <a:off x="8229600" y="475488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A8A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FF6B00"/>
                </a:solidFill>
                <a:latin typeface="Doto" pitchFamily="34" charset="0"/>
                <a:ea typeface="Doto" pitchFamily="34" charset="-122"/>
                <a:cs typeface="Doto" pitchFamily="34" charset="-120"/>
              </a:rPr>
              <a:t>ARCHITECTURE DEEP DIVE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F5F5F5"/>
                </a:solidFill>
                <a:latin typeface="Doto" pitchFamily="34" charset="0"/>
                <a:ea typeface="Doto" pitchFamily="34" charset="-122"/>
                <a:cs typeface="Doto" pitchFamily="34" charset="-120"/>
              </a:rPr>
              <a:t>Tiered routing.</a:t>
            </a:r>
            <a:endParaRPr lang="en-US" sz="3200" dirty="0"/>
          </a:p>
          <a:p>
            <a:pPr marL="0" indent="0">
              <a:buNone/>
            </a:pPr>
            <a:r>
              <a:rPr lang="en-US" sz="3200" b="1" dirty="0">
                <a:solidFill>
                  <a:srgbClr val="F5F5F5"/>
                </a:solidFill>
                <a:latin typeface="Doto" pitchFamily="34" charset="0"/>
                <a:ea typeface="Doto" pitchFamily="34" charset="-122"/>
                <a:cs typeface="Doto" pitchFamily="34" charset="-120"/>
              </a:rPr>
              <a:t>Privacy meets performance.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00" dirty="0">
                <a:solidFill>
                  <a:srgbClr val="FF6B00"/>
                </a:solidFill>
                <a:latin typeface="Doto" pitchFamily="34" charset="0"/>
                <a:ea typeface="Doto" pitchFamily="34" charset="-122"/>
                <a:cs typeface="Doto" pitchFamily="34" charset="-120"/>
              </a:rPr>
              <a:t>TIER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280160" y="20116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00" dirty="0">
                <a:solidFill>
                  <a:srgbClr val="FF6B00"/>
                </a:solidFill>
                <a:latin typeface="Doto" pitchFamily="34" charset="0"/>
                <a:ea typeface="Doto" pitchFamily="34" charset="-122"/>
                <a:cs typeface="Doto" pitchFamily="34" charset="-120"/>
              </a:rPr>
              <a:t>WHERE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651760" y="20116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00" dirty="0">
                <a:solidFill>
                  <a:srgbClr val="FF6B00"/>
                </a:solidFill>
                <a:latin typeface="Doto" pitchFamily="34" charset="0"/>
                <a:ea typeface="Doto" pitchFamily="34" charset="-122"/>
                <a:cs typeface="Doto" pitchFamily="34" charset="-120"/>
              </a:rPr>
              <a:t>MODEL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663440" y="20116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00" dirty="0">
                <a:solidFill>
                  <a:srgbClr val="FF6B00"/>
                </a:solidFill>
                <a:latin typeface="Doto" pitchFamily="34" charset="0"/>
                <a:ea typeface="Doto" pitchFamily="34" charset="-122"/>
                <a:cs typeface="Doto" pitchFamily="34" charset="-120"/>
              </a:rPr>
              <a:t>USE CASE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223760" y="20116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00" dirty="0">
                <a:solidFill>
                  <a:srgbClr val="FF6B00"/>
                </a:solidFill>
                <a:latin typeface="Doto" pitchFamily="34" charset="0"/>
                <a:ea typeface="Doto" pitchFamily="34" charset="-122"/>
                <a:cs typeface="Doto" pitchFamily="34" charset="-120"/>
              </a:rPr>
              <a:t>LATENCY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377440"/>
            <a:ext cx="8229600" cy="438912"/>
          </a:xfrm>
          <a:prstGeom prst="roundRect">
            <a:avLst>
              <a:gd name="adj" fmla="val 20833"/>
            </a:avLst>
          </a:prstGeom>
          <a:solidFill>
            <a:srgbClr val="11111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377440"/>
            <a:ext cx="731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6B00"/>
                </a:solidFill>
                <a:latin typeface="Doto" pitchFamily="34" charset="0"/>
                <a:ea typeface="Doto" pitchFamily="34" charset="-122"/>
                <a:cs typeface="Doto" pitchFamily="34" charset="-120"/>
              </a:rPr>
              <a:t>T0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417320" y="2377440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5F5F5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On device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788920" y="2377440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5F5F5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No model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00600" y="237744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5F5F5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/open &amp; heuristics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360920" y="2377440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5F5F5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&lt;200ms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2880360"/>
            <a:ext cx="8229600" cy="438912"/>
          </a:xfrm>
          <a:prstGeom prst="roundRect">
            <a:avLst>
              <a:gd name="adj" fmla="val 20833"/>
            </a:avLst>
          </a:prstGeom>
          <a:solidFill>
            <a:srgbClr val="11111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2880360"/>
            <a:ext cx="731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6B00"/>
                </a:solidFill>
                <a:latin typeface="Doto" pitchFamily="34" charset="0"/>
                <a:ea typeface="Doto" pitchFamily="34" charset="-122"/>
                <a:cs typeface="Doto" pitchFamily="34" charset="-120"/>
              </a:rPr>
              <a:t>T1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417320" y="2880360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5F5F5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On device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788920" y="2880360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5F5F5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Gemma via AICore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00600" y="288036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5F5F5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Simple intents, offline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360920" y="2880360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5F5F5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&lt;500ms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" y="3383280"/>
            <a:ext cx="8229600" cy="438912"/>
          </a:xfrm>
          <a:prstGeom prst="roundRect">
            <a:avLst>
              <a:gd name="adj" fmla="val 20833"/>
            </a:avLst>
          </a:prstGeom>
          <a:solidFill>
            <a:srgbClr val="11111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3383280"/>
            <a:ext cx="731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6B00"/>
                </a:solidFill>
                <a:latin typeface="Doto" pitchFamily="34" charset="0"/>
                <a:ea typeface="Doto" pitchFamily="34" charset="-122"/>
                <a:cs typeface="Doto" pitchFamily="34" charset="-120"/>
              </a:rPr>
              <a:t>T2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417320" y="3383280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5F5F5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Cloud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2788920" y="3383280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5F5F5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Gemini Flash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800600" y="338328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5F5F5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Tool calling &amp; widgets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360920" y="3383280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5F5F5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2–5s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57200" y="3886200"/>
            <a:ext cx="8229600" cy="438912"/>
          </a:xfrm>
          <a:prstGeom prst="roundRect">
            <a:avLst>
              <a:gd name="adj" fmla="val 20833"/>
            </a:avLst>
          </a:prstGeom>
          <a:solidFill>
            <a:srgbClr val="11111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4360" y="3886200"/>
            <a:ext cx="731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6B00"/>
                </a:solidFill>
                <a:latin typeface="Doto" pitchFamily="34" charset="0"/>
                <a:ea typeface="Doto" pitchFamily="34" charset="-122"/>
                <a:cs typeface="Doto" pitchFamily="34" charset="-120"/>
              </a:rPr>
              <a:t>T3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417320" y="3886200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5F5F5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Cloud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2788920" y="3886200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5F5F5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Gemini Pro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800600" y="388620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5F5F5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Deep reasoning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360920" y="3886200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5F5F5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5–10s</a:t>
            </a:r>
            <a:endParaRPr lang="en-US" sz="1300" dirty="0"/>
          </a:p>
        </p:txBody>
      </p:sp>
      <p:pic>
        <p:nvPicPr>
          <p:cNvPr id="34" name="Image 0" descr="C:\Dev\kairos-os\output\pptx\assets\logomark-for-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773168"/>
            <a:ext cx="201168" cy="201168"/>
          </a:xfrm>
          <a:prstGeom prst="rect">
            <a:avLst/>
          </a:prstGeom>
        </p:spPr>
      </p:pic>
      <p:sp>
        <p:nvSpPr>
          <p:cNvPr id="35" name="Text 32"/>
          <p:cNvSpPr/>
          <p:nvPr/>
        </p:nvSpPr>
        <p:spPr>
          <a:xfrm>
            <a:off x="731520" y="47548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A8A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KaiOS  ·  FIT × OGIS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8229600" y="475488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A8A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FF6B00"/>
                </a:solidFill>
                <a:latin typeface="Doto" pitchFamily="34" charset="0"/>
                <a:ea typeface="Doto" pitchFamily="34" charset="-122"/>
                <a:cs typeface="Doto" pitchFamily="34" charset="-120"/>
              </a:rPr>
              <a:t>PRIVACY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F5F5F5"/>
                </a:solidFill>
                <a:latin typeface="Doto" pitchFamily="34" charset="0"/>
                <a:ea typeface="Doto" pitchFamily="34" charset="-122"/>
                <a:cs typeface="Doto" pitchFamily="34" charset="-120"/>
              </a:rPr>
              <a:t>Your data. Your device.</a:t>
            </a:r>
            <a:endParaRPr lang="en-US" sz="3200" dirty="0"/>
          </a:p>
          <a:p>
            <a:pPr marL="0" indent="0">
              <a:buNone/>
            </a:pPr>
            <a:r>
              <a:rPr lang="en-US" sz="3200" b="1" dirty="0">
                <a:solidFill>
                  <a:srgbClr val="F5F5F5"/>
                </a:solidFill>
                <a:latin typeface="Doto" pitchFamily="34" charset="0"/>
                <a:ea typeface="Doto" pitchFamily="34" charset="-122"/>
                <a:cs typeface="Doto" pitchFamily="34" charset="-120"/>
              </a:rPr>
              <a:t>Your time.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4069080" cy="1143000"/>
          </a:xfrm>
          <a:prstGeom prst="roundRect">
            <a:avLst>
              <a:gd name="adj" fmla="val 8000"/>
            </a:avLst>
          </a:prstGeom>
          <a:solidFill>
            <a:srgbClr val="11111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2359152"/>
            <a:ext cx="384048" cy="384048"/>
          </a:xfrm>
          <a:prstGeom prst="ellipse">
            <a:avLst/>
          </a:prstGeom>
          <a:solidFill>
            <a:srgbClr val="331A00"/>
          </a:solidFill>
          <a:ln w="12700">
            <a:solidFill>
              <a:srgbClr val="FF6B00"/>
            </a:solidFill>
            <a:prstDash val="solid"/>
          </a:ln>
        </p:spPr>
      </p:sp>
      <p:pic>
        <p:nvPicPr>
          <p:cNvPr id="7" name="Image 0" descr="C:\Dev\kairos-os\output\pptx\assets\icons\chi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291" y="2443643"/>
            <a:ext cx="215067" cy="21506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80160" y="22402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5F5F5"/>
                </a:solidFill>
                <a:latin typeface="Doto" pitchFamily="34" charset="0"/>
                <a:ea typeface="Doto" pitchFamily="34" charset="-122"/>
                <a:cs typeface="Doto" pitchFamily="34" charset="-120"/>
              </a:rPr>
              <a:t>Local-first intelligence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280160" y="257860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8A8A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Simple tasks never leave the phone. On-device Gemma classifies and executes offline.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754880" y="2011680"/>
            <a:ext cx="4069080" cy="1143000"/>
          </a:xfrm>
          <a:prstGeom prst="roundRect">
            <a:avLst>
              <a:gd name="adj" fmla="val 8000"/>
            </a:avLst>
          </a:prstGeom>
          <a:solidFill>
            <a:srgbClr val="11111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983480" y="2359152"/>
            <a:ext cx="384048" cy="384048"/>
          </a:xfrm>
          <a:prstGeom prst="ellipse">
            <a:avLst/>
          </a:prstGeom>
          <a:solidFill>
            <a:srgbClr val="331A00"/>
          </a:solidFill>
          <a:ln w="12700">
            <a:solidFill>
              <a:srgbClr val="FF6B00"/>
            </a:solidFill>
            <a:prstDash val="solid"/>
          </a:ln>
        </p:spPr>
      </p:sp>
      <p:pic>
        <p:nvPicPr>
          <p:cNvPr id="12" name="Image 1" descr="C:\Dev\kairos-os\output\pptx\assets\icons\ke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67971" y="2443643"/>
            <a:ext cx="215067" cy="21506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577840" y="22402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5F5F5"/>
                </a:solidFill>
                <a:latin typeface="Doto" pitchFamily="34" charset="0"/>
                <a:ea typeface="Doto" pitchFamily="34" charset="-122"/>
                <a:cs typeface="Doto" pitchFamily="34" charset="-120"/>
              </a:rPr>
              <a:t>Tokens stay on the server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5577840" y="257860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8A8A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OAuth tokens and API keys never touch the Android client. Backend vault only.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457200" y="3291840"/>
            <a:ext cx="4069080" cy="1143000"/>
          </a:xfrm>
          <a:prstGeom prst="roundRect">
            <a:avLst>
              <a:gd name="adj" fmla="val 8000"/>
            </a:avLst>
          </a:prstGeom>
          <a:solidFill>
            <a:srgbClr val="11111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85800" y="3639312"/>
            <a:ext cx="384048" cy="384048"/>
          </a:xfrm>
          <a:prstGeom prst="ellipse">
            <a:avLst/>
          </a:prstGeom>
          <a:solidFill>
            <a:srgbClr val="331A00"/>
          </a:solidFill>
          <a:ln w="12700">
            <a:solidFill>
              <a:srgbClr val="FF6B00"/>
            </a:solidFill>
            <a:prstDash val="solid"/>
          </a:ln>
        </p:spPr>
      </p:sp>
      <p:pic>
        <p:nvPicPr>
          <p:cNvPr id="17" name="Image 2" descr="C:\Dev\kairos-os\output\pptx\assets\icons\ey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0291" y="3723803"/>
            <a:ext cx="215067" cy="215067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280160" y="35204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5F5F5"/>
                </a:solidFill>
                <a:latin typeface="Doto" pitchFamily="34" charset="0"/>
                <a:ea typeface="Doto" pitchFamily="34" charset="-122"/>
                <a:cs typeface="Doto" pitchFamily="34" charset="-120"/>
              </a:rPr>
              <a:t>Notifications are ephemeral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1280160" y="385876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8A8A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Payloads are classified, then discarded. Only summaries persist — never the raw stream.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4754880" y="3291840"/>
            <a:ext cx="4069080" cy="1143000"/>
          </a:xfrm>
          <a:prstGeom prst="roundRect">
            <a:avLst>
              <a:gd name="adj" fmla="val 8000"/>
            </a:avLst>
          </a:prstGeom>
          <a:solidFill>
            <a:srgbClr val="11111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4983480" y="3639312"/>
            <a:ext cx="384048" cy="384048"/>
          </a:xfrm>
          <a:prstGeom prst="ellipse">
            <a:avLst/>
          </a:prstGeom>
          <a:solidFill>
            <a:srgbClr val="331A00"/>
          </a:solidFill>
          <a:ln w="12700">
            <a:solidFill>
              <a:srgbClr val="FF6B00"/>
            </a:solidFill>
            <a:prstDash val="solid"/>
          </a:ln>
        </p:spPr>
      </p:sp>
      <p:pic>
        <p:nvPicPr>
          <p:cNvPr id="22" name="Image 3" descr="C:\Dev\kairos-os\output\pptx\assets\icons\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67971" y="3723803"/>
            <a:ext cx="215067" cy="215067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577840" y="35204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5F5F5"/>
                </a:solidFill>
                <a:latin typeface="Doto" pitchFamily="34" charset="0"/>
                <a:ea typeface="Doto" pitchFamily="34" charset="-122"/>
                <a:cs typeface="Doto" pitchFamily="34" charset="-120"/>
              </a:rPr>
              <a:t>Encrypted transport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5577840" y="385876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8A8A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All client ↔ backend traffic over HTTPS. Sandboxed tool processes; no cross-app data bleed.</a:t>
            </a:r>
            <a:endParaRPr lang="en-US" sz="1200" dirty="0"/>
          </a:p>
        </p:txBody>
      </p:sp>
      <p:pic>
        <p:nvPicPr>
          <p:cNvPr id="25" name="Image 4" descr="C:\Dev\kairos-os\output\pptx\assets\logomark-for-dar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4773168"/>
            <a:ext cx="201168" cy="201168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731520" y="47548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A8A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KaiOS  ·  FIT × OGIS</a:t>
            </a:r>
            <a:endParaRPr lang="en-US" sz="1000" dirty="0"/>
          </a:p>
        </p:txBody>
      </p:sp>
      <p:sp>
        <p:nvSpPr>
          <p:cNvPr id="27" name="Text 20"/>
          <p:cNvSpPr/>
          <p:nvPr/>
        </p:nvSpPr>
        <p:spPr>
          <a:xfrm>
            <a:off x="8229600" y="475488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A8A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FF6B00"/>
                </a:solidFill>
                <a:latin typeface="Doto" pitchFamily="34" charset="0"/>
                <a:ea typeface="Doto" pitchFamily="34" charset="-122"/>
                <a:cs typeface="Doto" pitchFamily="34" charset="-120"/>
              </a:rPr>
              <a:t>BUSINESS FEASIBILITY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F5F5F5"/>
                </a:solidFill>
                <a:latin typeface="Doto" pitchFamily="34" charset="0"/>
                <a:ea typeface="Doto" pitchFamily="34" charset="-122"/>
                <a:cs typeface="Doto" pitchFamily="34" charset="-120"/>
              </a:rPr>
              <a:t>Deep-Work mode.</a:t>
            </a:r>
            <a:endParaRPr lang="en-US" sz="3200" dirty="0"/>
          </a:p>
          <a:p>
            <a:pPr marL="0" indent="0">
              <a:buNone/>
            </a:pPr>
            <a:r>
              <a:rPr lang="en-US" sz="3200" b="1" dirty="0">
                <a:solidFill>
                  <a:srgbClr val="F5F5F5"/>
                </a:solidFill>
                <a:latin typeface="Doto" pitchFamily="34" charset="0"/>
                <a:ea typeface="Doto" pitchFamily="34" charset="-122"/>
                <a:cs typeface="Doto" pitchFamily="34" charset="-120"/>
              </a:rPr>
              <a:t>Enterprise-ready focus.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965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8A8A8A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KaiOS is not only a personal detox - it is a command line for knowledge work.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2468880"/>
            <a:ext cx="4069080" cy="960120"/>
          </a:xfrm>
          <a:prstGeom prst="roundRect">
            <a:avLst>
              <a:gd name="adj" fmla="val 9524"/>
            </a:avLst>
          </a:prstGeom>
          <a:solidFill>
            <a:srgbClr val="11111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" y="2743200"/>
            <a:ext cx="365760" cy="365760"/>
          </a:xfrm>
          <a:prstGeom prst="ellipse">
            <a:avLst/>
          </a:prstGeom>
          <a:solidFill>
            <a:srgbClr val="331A00"/>
          </a:solidFill>
          <a:ln w="12700">
            <a:solidFill>
              <a:srgbClr val="FF6B00"/>
            </a:solidFill>
            <a:prstDash val="solid"/>
          </a:ln>
        </p:spPr>
      </p:sp>
      <p:pic>
        <p:nvPicPr>
          <p:cNvPr id="8" name="Image 0" descr="C:\Dev\kairos-os\output\pptx\assets\icons\busine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835" y="2823667"/>
            <a:ext cx="204826" cy="20482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88720" y="263347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5F5F5"/>
                </a:solidFill>
                <a:latin typeface="Doto" pitchFamily="34" charset="0"/>
                <a:ea typeface="Doto" pitchFamily="34" charset="-122"/>
                <a:cs typeface="Doto" pitchFamily="34" charset="-120"/>
              </a:rPr>
              <a:t>Workspace native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188720" y="292608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8A8A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Gmail, Calendar, Drive, Slack, Notion, GitHub — action-oriented briefs instead of tab chaos.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754880" y="2468880"/>
            <a:ext cx="4069080" cy="960120"/>
          </a:xfrm>
          <a:prstGeom prst="roundRect">
            <a:avLst>
              <a:gd name="adj" fmla="val 9524"/>
            </a:avLst>
          </a:prstGeom>
          <a:solidFill>
            <a:srgbClr val="11111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956048" y="2743200"/>
            <a:ext cx="365760" cy="365760"/>
          </a:xfrm>
          <a:prstGeom prst="ellipse">
            <a:avLst/>
          </a:prstGeom>
          <a:solidFill>
            <a:srgbClr val="331A00"/>
          </a:solidFill>
          <a:ln w="12700">
            <a:solidFill>
              <a:srgbClr val="FF6B00"/>
            </a:solidFill>
            <a:prstDash val="solid"/>
          </a:ln>
        </p:spPr>
      </p:sp>
      <p:pic>
        <p:nvPicPr>
          <p:cNvPr id="13" name="Image 1" descr="C:\Dev\kairos-os\output\pptx\assets\icons\c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6515" y="2823667"/>
            <a:ext cx="204826" cy="20482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486400" y="263347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5F5F5"/>
                </a:solidFill>
                <a:latin typeface="Doto" pitchFamily="34" charset="0"/>
                <a:ea typeface="Doto" pitchFamily="34" charset="-122"/>
                <a:cs typeface="Doto" pitchFamily="34" charset="-120"/>
              </a:rPr>
              <a:t>Scheduled Deep-Work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5486400" y="292608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8A8A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Activate manually or auto-trigger during working hours. Trap apps stay gated while work tools stay sharp.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457200" y="3520440"/>
            <a:ext cx="4069080" cy="960120"/>
          </a:xfrm>
          <a:prstGeom prst="roundRect">
            <a:avLst>
              <a:gd name="adj" fmla="val 9524"/>
            </a:avLst>
          </a:prstGeom>
          <a:solidFill>
            <a:srgbClr val="11111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58368" y="3794760"/>
            <a:ext cx="365760" cy="365760"/>
          </a:xfrm>
          <a:prstGeom prst="ellipse">
            <a:avLst/>
          </a:prstGeom>
          <a:solidFill>
            <a:srgbClr val="331A00"/>
          </a:solidFill>
          <a:ln w="12700">
            <a:solidFill>
              <a:srgbClr val="FF6B00"/>
            </a:solidFill>
            <a:prstDash val="solid"/>
          </a:ln>
        </p:spPr>
      </p:sp>
      <p:pic>
        <p:nvPicPr>
          <p:cNvPr id="18" name="Image 2" descr="C:\Dev\kairos-os\output\pptx\assets\icons\buildin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8835" y="3875227"/>
            <a:ext cx="204826" cy="20482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188720" y="368503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5F5F5"/>
                </a:solidFill>
                <a:latin typeface="Doto" pitchFamily="34" charset="0"/>
                <a:ea typeface="Doto" pitchFamily="34" charset="-122"/>
                <a:cs typeface="Doto" pitchFamily="34" charset="-120"/>
              </a:rPr>
              <a:t>Corporate path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1188720" y="39776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8A8A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Managed profiles, policy-aligned distraction control, and B2B licensing as the distribution model.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4754880" y="3520440"/>
            <a:ext cx="4069080" cy="960120"/>
          </a:xfrm>
          <a:prstGeom prst="roundRect">
            <a:avLst>
              <a:gd name="adj" fmla="val 9524"/>
            </a:avLst>
          </a:prstGeom>
          <a:solidFill>
            <a:srgbClr val="11111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4956048" y="3794760"/>
            <a:ext cx="365760" cy="365760"/>
          </a:xfrm>
          <a:prstGeom prst="ellipse">
            <a:avLst/>
          </a:prstGeom>
          <a:solidFill>
            <a:srgbClr val="331A00"/>
          </a:solidFill>
          <a:ln w="12700">
            <a:solidFill>
              <a:srgbClr val="FF6B00"/>
            </a:solidFill>
            <a:prstDash val="solid"/>
          </a:ln>
        </p:spPr>
      </p:sp>
      <p:pic>
        <p:nvPicPr>
          <p:cNvPr id="23" name="Image 3" descr="C:\Dev\kairos-os\output\pptx\assets\icons\shiel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36515" y="3875227"/>
            <a:ext cx="204826" cy="204826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486400" y="368503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5F5F5"/>
                </a:solidFill>
                <a:latin typeface="Doto" pitchFamily="34" charset="0"/>
                <a:ea typeface="Doto" pitchFamily="34" charset="-122"/>
                <a:cs typeface="Doto" pitchFamily="34" charset="-120"/>
              </a:rPr>
              <a:t>Feasible stack</a:t>
            </a:r>
            <a:endParaRPr lang="en-US" sz="1400" dirty="0"/>
          </a:p>
        </p:txBody>
      </p:sp>
      <p:sp>
        <p:nvSpPr>
          <p:cNvPr id="25" name="Text 19"/>
          <p:cNvSpPr/>
          <p:nvPr/>
        </p:nvSpPr>
        <p:spPr>
          <a:xfrm>
            <a:off x="5486400" y="39776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8A8A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Composio + Gemini + thin Kotlin client — production integrations without rebuilding OAuth from scratch.</a:t>
            </a:r>
            <a:endParaRPr lang="en-US" sz="1200" dirty="0"/>
          </a:p>
        </p:txBody>
      </p:sp>
      <p:pic>
        <p:nvPicPr>
          <p:cNvPr id="26" name="Image 4" descr="C:\Dev\kairos-os\output\pptx\assets\logomark-for-dar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4773168"/>
            <a:ext cx="201168" cy="20116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31520" y="47548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A8A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KaiOS  ·  FIT × OGIS</a:t>
            </a:r>
            <a:endParaRPr lang="en-US" sz="1000" dirty="0"/>
          </a:p>
        </p:txBody>
      </p:sp>
      <p:sp>
        <p:nvSpPr>
          <p:cNvPr id="28" name="Text 21"/>
          <p:cNvSpPr/>
          <p:nvPr/>
        </p:nvSpPr>
        <p:spPr>
          <a:xfrm>
            <a:off x="8229600" y="475488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A8A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FF6B00"/>
                </a:solidFill>
                <a:latin typeface="Doto" pitchFamily="34" charset="0"/>
                <a:ea typeface="Doto" pitchFamily="34" charset="-122"/>
                <a:cs typeface="Doto" pitchFamily="34" charset="-120"/>
              </a:rPr>
              <a:t>WHY KAIOS WINS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F5F5F5"/>
                </a:solidFill>
                <a:latin typeface="Doto" pitchFamily="34" charset="0"/>
                <a:ea typeface="Doto" pitchFamily="34" charset="-122"/>
                <a:cs typeface="Doto" pitchFamily="34" charset="-120"/>
              </a:rPr>
              <a:t>Mapped to the brief.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8229600" cy="548640"/>
          </a:xfrm>
          <a:prstGeom prst="roundRect">
            <a:avLst>
              <a:gd name="adj" fmla="val 16667"/>
            </a:avLst>
          </a:prstGeom>
          <a:solidFill>
            <a:srgbClr val="11111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32588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6B00"/>
                </a:solidFill>
                <a:latin typeface="Doto" pitchFamily="34" charset="0"/>
                <a:ea typeface="Doto" pitchFamily="34" charset="-122"/>
                <a:cs typeface="Doto" pitchFamily="34" charset="-120"/>
              </a:rPr>
              <a:t>30%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54480" y="132588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5F5F5"/>
                </a:solidFill>
                <a:latin typeface="Doto" pitchFamily="34" charset="0"/>
                <a:ea typeface="Doto" pitchFamily="34" charset="-122"/>
                <a:cs typeface="Doto" pitchFamily="34" charset="-120"/>
              </a:rPr>
              <a:t>Creativity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657600" y="132588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A8A8A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Chronos vs Kairos narrative · blank-slate UI · intentional friction as product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965960"/>
            <a:ext cx="8229600" cy="548640"/>
          </a:xfrm>
          <a:prstGeom prst="roundRect">
            <a:avLst>
              <a:gd name="adj" fmla="val 16667"/>
            </a:avLst>
          </a:prstGeom>
          <a:solidFill>
            <a:srgbClr val="11111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96596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6B00"/>
                </a:solidFill>
                <a:latin typeface="Doto" pitchFamily="34" charset="0"/>
                <a:ea typeface="Doto" pitchFamily="34" charset="-122"/>
                <a:cs typeface="Doto" pitchFamily="34" charset="-120"/>
              </a:rPr>
              <a:t>25%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196596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5F5F5"/>
                </a:solidFill>
                <a:latin typeface="Doto" pitchFamily="34" charset="0"/>
                <a:ea typeface="Doto" pitchFamily="34" charset="-122"/>
                <a:cs typeface="Doto" pitchFamily="34" charset="-120"/>
              </a:rPr>
              <a:t>Innovativeness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657600" y="196596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A8A8A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Hybrid on-device + cloud AI · MCP/Composio routing · server-driven widgets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606040"/>
            <a:ext cx="8229600" cy="548640"/>
          </a:xfrm>
          <a:prstGeom prst="roundRect">
            <a:avLst>
              <a:gd name="adj" fmla="val 16667"/>
            </a:avLst>
          </a:prstGeom>
          <a:solidFill>
            <a:srgbClr val="11111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260604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6B00"/>
                </a:solidFill>
                <a:latin typeface="Doto" pitchFamily="34" charset="0"/>
                <a:ea typeface="Doto" pitchFamily="34" charset="-122"/>
                <a:cs typeface="Doto" pitchFamily="34" charset="-120"/>
              </a:rPr>
              <a:t>20%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554480" y="260604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5F5F5"/>
                </a:solidFill>
                <a:latin typeface="Doto" pitchFamily="34" charset="0"/>
                <a:ea typeface="Doto" pitchFamily="34" charset="-122"/>
                <a:cs typeface="Doto" pitchFamily="34" charset="-120"/>
              </a:rPr>
              <a:t>Feasibility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657600" y="260604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A8A8A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Shipped Android launcher · thin client · proven APIs · tiered models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3246120"/>
            <a:ext cx="8229600" cy="548640"/>
          </a:xfrm>
          <a:prstGeom prst="roundRect">
            <a:avLst>
              <a:gd name="adj" fmla="val 16667"/>
            </a:avLst>
          </a:prstGeom>
          <a:solidFill>
            <a:srgbClr val="11111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324612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6B00"/>
                </a:solidFill>
                <a:latin typeface="Doto" pitchFamily="34" charset="0"/>
                <a:ea typeface="Doto" pitchFamily="34" charset="-122"/>
                <a:cs typeface="Doto" pitchFamily="34" charset="-120"/>
              </a:rPr>
              <a:t>15%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554480" y="32461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5F5F5"/>
                </a:solidFill>
                <a:latin typeface="Doto" pitchFamily="34" charset="0"/>
                <a:ea typeface="Doto" pitchFamily="34" charset="-122"/>
                <a:cs typeface="Doto" pitchFamily="34" charset="-120"/>
              </a:rPr>
              <a:t>Usefulness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3657600" y="324612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A8A8A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Real Workspace + Slack/Notion/GitHub workflows · Deep-Work enterprise path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3886200"/>
            <a:ext cx="8229600" cy="548640"/>
          </a:xfrm>
          <a:prstGeom prst="roundRect">
            <a:avLst>
              <a:gd name="adj" fmla="val 16667"/>
            </a:avLst>
          </a:prstGeom>
          <a:solidFill>
            <a:srgbClr val="11111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388620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6B00"/>
                </a:solidFill>
                <a:latin typeface="Doto" pitchFamily="34" charset="0"/>
                <a:ea typeface="Doto" pitchFamily="34" charset="-122"/>
                <a:cs typeface="Doto" pitchFamily="34" charset="-120"/>
              </a:rPr>
              <a:t>10%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554480" y="38862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5F5F5"/>
                </a:solidFill>
                <a:latin typeface="Doto" pitchFamily="34" charset="0"/>
                <a:ea typeface="Doto" pitchFamily="34" charset="-122"/>
                <a:cs typeface="Doto" pitchFamily="34" charset="-120"/>
              </a:rPr>
              <a:t>Interest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3657600" y="388620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A8A8A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Visceral empty home screen · Intent Gate · floating bubble · daily digest</a:t>
            </a:r>
            <a:endParaRPr lang="en-US" sz="1300" dirty="0"/>
          </a:p>
        </p:txBody>
      </p:sp>
      <p:pic>
        <p:nvPicPr>
          <p:cNvPr id="25" name="Image 0" descr="C:\Dev\kairos-os\output\pptx\assets\logomark-for-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773168"/>
            <a:ext cx="201168" cy="201168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731520" y="47548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A8A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KaiOS  ·  FIT × OGIS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8229600" y="475488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A8A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FF6B00"/>
                </a:solidFill>
                <a:latin typeface="Doto" pitchFamily="34" charset="0"/>
                <a:ea typeface="Doto" pitchFamily="34" charset="-122"/>
                <a:cs typeface="Doto" pitchFamily="34" charset="-120"/>
              </a:rPr>
              <a:t>THEME FIT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F5F5F5"/>
                </a:solidFill>
                <a:latin typeface="Doto" pitchFamily="34" charset="0"/>
                <a:ea typeface="Doto" pitchFamily="34" charset="-122"/>
                <a:cs typeface="Doto" pitchFamily="34" charset="-120"/>
              </a:rPr>
              <a:t>Disconnected by Design —</a:t>
            </a:r>
            <a:endParaRPr lang="en-US" sz="3200" dirty="0"/>
          </a:p>
          <a:p>
            <a:pPr marL="0" indent="0">
              <a:buNone/>
            </a:pPr>
            <a:r>
              <a:rPr lang="en-US" sz="3200" b="1" dirty="0">
                <a:solidFill>
                  <a:srgbClr val="F5F5F5"/>
                </a:solidFill>
                <a:latin typeface="Doto" pitchFamily="34" charset="0"/>
                <a:ea typeface="Doto" pitchFamily="34" charset="-122"/>
                <a:cs typeface="Doto" pitchFamily="34" charset="-120"/>
              </a:rPr>
              <a:t>every requirement, met.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2743200" cy="1097280"/>
          </a:xfrm>
          <a:prstGeom prst="roundRect">
            <a:avLst>
              <a:gd name="adj" fmla="val 8333"/>
            </a:avLst>
          </a:prstGeom>
          <a:solidFill>
            <a:srgbClr val="11111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21284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6B00"/>
                </a:solidFill>
                <a:latin typeface="Doto" pitchFamily="34" charset="0"/>
                <a:ea typeface="Doto" pitchFamily="34" charset="-122"/>
                <a:cs typeface="Doto" pitchFamily="34" charset="-120"/>
              </a:rPr>
              <a:t>Convenience is not benefit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6060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F5F5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One-tap grids are replaced by stated intent.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37560" y="2011680"/>
            <a:ext cx="2743200" cy="1097280"/>
          </a:xfrm>
          <a:prstGeom prst="roundRect">
            <a:avLst>
              <a:gd name="adj" fmla="val 8333"/>
            </a:avLst>
          </a:prstGeom>
          <a:solidFill>
            <a:srgbClr val="11111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20440" y="221284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6B00"/>
                </a:solidFill>
                <a:latin typeface="Doto" pitchFamily="34" charset="0"/>
                <a:ea typeface="Doto" pitchFamily="34" charset="-122"/>
                <a:cs typeface="Doto" pitchFamily="34" charset="-120"/>
              </a:rPr>
              <a:t>Choose disconnection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520440" y="26060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F5F5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Blank home screen creates a digital pause.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17920" y="2011680"/>
            <a:ext cx="2743200" cy="1097280"/>
          </a:xfrm>
          <a:prstGeom prst="roundRect">
            <a:avLst>
              <a:gd name="adj" fmla="val 8333"/>
            </a:avLst>
          </a:prstGeom>
          <a:solidFill>
            <a:srgbClr val="11111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0" y="221284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6B00"/>
                </a:solidFill>
                <a:latin typeface="Doto" pitchFamily="34" charset="0"/>
                <a:ea typeface="Doto" pitchFamily="34" charset="-122"/>
                <a:cs typeface="Doto" pitchFamily="34" charset="-120"/>
              </a:rPr>
              <a:t>Narrow &amp; deep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0" y="26060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F5F5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Targeted commands — no feeds, no suggestions.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246120"/>
            <a:ext cx="2743200" cy="1097280"/>
          </a:xfrm>
          <a:prstGeom prst="roundRect">
            <a:avLst>
              <a:gd name="adj" fmla="val 8333"/>
            </a:avLst>
          </a:prstGeom>
          <a:solidFill>
            <a:srgbClr val="11111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44728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6B00"/>
                </a:solidFill>
                <a:latin typeface="Doto" pitchFamily="34" charset="0"/>
                <a:ea typeface="Doto" pitchFamily="34" charset="-122"/>
                <a:cs typeface="Doto" pitchFamily="34" charset="-120"/>
              </a:rPr>
              <a:t>Less information exposure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38404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F5F5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Notifications batched into digests you request.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337560" y="3246120"/>
            <a:ext cx="2743200" cy="1097280"/>
          </a:xfrm>
          <a:prstGeom prst="roundRect">
            <a:avLst>
              <a:gd name="adj" fmla="val 8333"/>
            </a:avLst>
          </a:prstGeom>
          <a:solidFill>
            <a:srgbClr val="11111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520440" y="344728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6B00"/>
                </a:solidFill>
                <a:latin typeface="Doto" pitchFamily="34" charset="0"/>
                <a:ea typeface="Doto" pitchFamily="34" charset="-122"/>
                <a:cs typeface="Doto" pitchFamily="34" charset="-120"/>
              </a:rPr>
              <a:t>Everyday discomfort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520440" y="38404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F5F5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The blinking cursor is the designed friction.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217920" y="3246120"/>
            <a:ext cx="2743200" cy="1097280"/>
          </a:xfrm>
          <a:prstGeom prst="roundRect">
            <a:avLst>
              <a:gd name="adj" fmla="val 8333"/>
            </a:avLst>
          </a:prstGeom>
          <a:solidFill>
            <a:srgbClr val="11111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0" y="344728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6B00"/>
                </a:solidFill>
                <a:latin typeface="Doto" pitchFamily="34" charset="0"/>
                <a:ea typeface="Doto" pitchFamily="34" charset="-122"/>
                <a:cs typeface="Doto" pitchFamily="34" charset="-120"/>
              </a:rPr>
              <a:t>Unique · AI-driven · Futuristic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00800" y="38404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F5F5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Post-app paradigm: intent replaces icons.</a:t>
            </a:r>
            <a:endParaRPr lang="en-US" sz="1200" dirty="0"/>
          </a:p>
        </p:txBody>
      </p:sp>
      <p:pic>
        <p:nvPicPr>
          <p:cNvPr id="23" name="Image 0" descr="C:\Dev\kairos-os\output\pptx\assets\logomark-for-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773168"/>
            <a:ext cx="201168" cy="201168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731520" y="47548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A8A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KaiOS  ·  FIT × OGIS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8229600" y="475488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A8A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0" y="731520"/>
            <a:ext cx="3840480" cy="3840480"/>
          </a:xfrm>
          <a:prstGeom prst="ellipse">
            <a:avLst/>
          </a:prstGeom>
          <a:solidFill>
            <a:srgbClr val="FF6B00">
              <a:alpha val="8000"/>
            </a:srgbClr>
          </a:solidFill>
          <a:ln w="12700">
            <a:solidFill>
              <a:srgbClr val="FF6B00">
                <a:alpha val="0"/>
              </a:srgbClr>
            </a:solidFill>
            <a:prstDash val="solid"/>
          </a:ln>
        </p:spPr>
      </p:sp>
      <p:pic>
        <p:nvPicPr>
          <p:cNvPr id="4" name="Image 0" descr="C:\Dev\kairos-os\output\pptx\assets\logomark-for-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0520" y="777240"/>
            <a:ext cx="822960" cy="8229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8288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5F5F5"/>
                </a:solidFill>
                <a:latin typeface="Doto" pitchFamily="34" charset="0"/>
                <a:ea typeface="Doto" pitchFamily="34" charset="-122"/>
                <a:cs typeface="Doto" pitchFamily="34" charset="-120"/>
              </a:rPr>
              <a:t>Choose intention,</a:t>
            </a:r>
            <a:endParaRPr lang="en-US" sz="4000" dirty="0"/>
          </a:p>
          <a:p>
            <a:pPr marL="0" indent="0" algn="ctr">
              <a:buNone/>
            </a:pPr>
            <a:r>
              <a:rPr lang="en-US" sz="4000" b="1" dirty="0">
                <a:solidFill>
                  <a:srgbClr val="F5F5F5"/>
                </a:solidFill>
                <a:latin typeface="Doto" pitchFamily="34" charset="0"/>
                <a:ea typeface="Doto" pitchFamily="34" charset="-122"/>
                <a:cs typeface="Doto" pitchFamily="34" charset="-120"/>
              </a:rPr>
              <a:t>not impulse.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1371600" y="310896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A8A8A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KaiOS rescues attention from Chronos —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8A8A8A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so every interaction can happen in Kairos.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57200" y="4114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6B00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FIT × OGIS  ·  Disconnected by Design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" y="45262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8A8A8A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[ Team names ]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1062</Words>
  <Application>Microsoft Office PowerPoint</Application>
  <PresentationFormat>On-screen Show (16:9)</PresentationFormat>
  <Paragraphs>240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Doto</vt:lpstr>
      <vt:lpstr>Google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KaiOS — FIT × OGIS Disconnected by Design</dc:title>
  <dc:subject>Competition presentation material</dc:subject>
  <dc:creator>KaiOS</dc:creator>
  <cp:lastModifiedBy>Ian Kenneth Agustin</cp:lastModifiedBy>
  <cp:revision>2</cp:revision>
  <dcterms:created xsi:type="dcterms:W3CDTF">2026-07-31T10:18:15Z</dcterms:created>
  <dcterms:modified xsi:type="dcterms:W3CDTF">2026-07-31T10:29:59Z</dcterms:modified>
</cp:coreProperties>
</file>